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tableStyles" Target="tableStyle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theme" Target="theme/theme1.xml" /><Relationship Id="rId2" Type="http://schemas.openxmlformats.org/officeDocument/2006/relationships/slide" Target="slides/slide1.xml" /><Relationship Id="rId16"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presProps" Target="presProp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2/1/2026</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2/1/2026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2/1/2026</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image" Target="../media/image1.jpeg"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2/1/2026</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ECF36-3039-8D7A-2E85-F26C5FF8C842}"/>
              </a:ext>
            </a:extLst>
          </p:cNvPr>
          <p:cNvSpPr>
            <a:spLocks noGrp="1"/>
          </p:cNvSpPr>
          <p:nvPr>
            <p:ph type="ctrTitle"/>
          </p:nvPr>
        </p:nvSpPr>
        <p:spPr>
          <a:xfrm>
            <a:off x="0" y="1219200"/>
            <a:ext cx="11905129" cy="557428"/>
          </a:xfrm>
        </p:spPr>
        <p:txBody>
          <a:bodyPr/>
          <a:lstStyle/>
          <a:p>
            <a:r>
              <a:rPr lang="en-IN" sz="2000" b="1" dirty="0">
                <a:latin typeface="Times New Roman" panose="02020603050405020304" pitchFamily="18" charset="0"/>
                <a:cs typeface="Times New Roman" panose="02020603050405020304" pitchFamily="18" charset="0"/>
              </a:rPr>
              <a:t>           </a:t>
            </a:r>
            <a:r>
              <a:rPr lang="en-US" sz="4000" b="1" dirty="0">
                <a:latin typeface="Times New Roman" panose="02020603050405020304" pitchFamily="18" charset="0"/>
                <a:cs typeface="Times New Roman" panose="02020603050405020304" pitchFamily="18" charset="0"/>
              </a:rPr>
              <a:t>Credit Card Fraud Detection Using Data Science</a:t>
            </a:r>
          </a:p>
        </p:txBody>
      </p:sp>
      <p:sp>
        <p:nvSpPr>
          <p:cNvPr id="4" name="Subtitle 3">
            <a:extLst>
              <a:ext uri="{FF2B5EF4-FFF2-40B4-BE49-F238E27FC236}">
                <a16:creationId xmlns:a16="http://schemas.microsoft.com/office/drawing/2014/main" id="{17180C75-AA53-AB4D-7D48-03AD5901CAAA}"/>
              </a:ext>
            </a:extLst>
          </p:cNvPr>
          <p:cNvSpPr>
            <a:spLocks noGrp="1"/>
          </p:cNvSpPr>
          <p:nvPr>
            <p:ph type="subTitle" idx="1"/>
          </p:nvPr>
        </p:nvSpPr>
        <p:spPr>
          <a:xfrm>
            <a:off x="712042" y="2534792"/>
            <a:ext cx="20154853" cy="2671143"/>
          </a:xfrm>
        </p:spPr>
        <p:txBody>
          <a:bodyPr>
            <a:noAutofit/>
          </a:bodyPr>
          <a:lstStyle/>
          <a:p>
            <a:r>
              <a:rPr lang="en-IN" sz="3200" dirty="0">
                <a:latin typeface="Times New Roman" panose="02020603050405020304" pitchFamily="18" charset="0"/>
                <a:cs typeface="Times New Roman" panose="02020603050405020304" pitchFamily="18" charset="0"/>
              </a:rPr>
              <a:t>Name: </a:t>
            </a:r>
            <a:r>
              <a:rPr lang="en-IN" sz="3200" dirty="0" err="1">
                <a:latin typeface="Times New Roman" panose="02020603050405020304" pitchFamily="18" charset="0"/>
                <a:cs typeface="Times New Roman" panose="02020603050405020304" pitchFamily="18" charset="0"/>
              </a:rPr>
              <a:t>Shravani</a:t>
            </a:r>
            <a:r>
              <a:rPr lang="en-IN" sz="3200" dirty="0">
                <a:latin typeface="Times New Roman" panose="02020603050405020304" pitchFamily="18" charset="0"/>
                <a:cs typeface="Times New Roman" panose="02020603050405020304" pitchFamily="18" charset="0"/>
              </a:rPr>
              <a:t> Hari </a:t>
            </a:r>
            <a:r>
              <a:rPr lang="en-IN" sz="3200" dirty="0" err="1">
                <a:latin typeface="Times New Roman" panose="02020603050405020304" pitchFamily="18" charset="0"/>
                <a:cs typeface="Times New Roman" panose="02020603050405020304" pitchFamily="18" charset="0"/>
              </a:rPr>
              <a:t>Sakharkar</a:t>
            </a:r>
            <a:r>
              <a:rPr lang="en-IN" sz="3200" dirty="0">
                <a:latin typeface="Times New Roman" panose="02020603050405020304" pitchFamily="18" charset="0"/>
                <a:cs typeface="Times New Roman" panose="02020603050405020304" pitchFamily="18" charset="0"/>
              </a:rPr>
              <a:t>
College: Government Polytechnic </a:t>
            </a:r>
            <a:r>
              <a:rPr lang="en-IN" sz="3200" dirty="0" err="1">
                <a:latin typeface="Times New Roman" panose="02020603050405020304" pitchFamily="18" charset="0"/>
                <a:cs typeface="Times New Roman" panose="02020603050405020304" pitchFamily="18" charset="0"/>
              </a:rPr>
              <a:t>Dharashiv</a:t>
            </a:r>
            <a:r>
              <a:rPr lang="en-IN" sz="3200" dirty="0">
                <a:latin typeface="Times New Roman" panose="02020603050405020304" pitchFamily="18" charset="0"/>
                <a:cs typeface="Times New Roman" panose="02020603050405020304" pitchFamily="18" charset="0"/>
              </a:rPr>
              <a:t>
Course: Diploma in Computer Engineering
Year: Third Year</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12276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B1B07-25F1-17D1-E490-D8DEAB5BF82D}"/>
              </a:ext>
            </a:extLst>
          </p:cNvPr>
          <p:cNvSpPr>
            <a:spLocks noGrp="1"/>
          </p:cNvSpPr>
          <p:nvPr>
            <p:ph type="title"/>
          </p:nvPr>
        </p:nvSpPr>
        <p:spPr/>
        <p:txBody>
          <a:bodyPr/>
          <a:lstStyle/>
          <a:p>
            <a:r>
              <a:rPr lang="en-IN" dirty="0"/>
              <a:t>INTRODUCTION</a:t>
            </a:r>
            <a:endParaRPr lang="en-US" dirty="0"/>
          </a:p>
        </p:txBody>
      </p:sp>
      <p:sp>
        <p:nvSpPr>
          <p:cNvPr id="3" name="Content Placeholder 2">
            <a:extLst>
              <a:ext uri="{FF2B5EF4-FFF2-40B4-BE49-F238E27FC236}">
                <a16:creationId xmlns:a16="http://schemas.microsoft.com/office/drawing/2014/main" id="{E6FACF64-6EE3-24F5-FD5E-C4C0692E4B51}"/>
              </a:ext>
            </a:extLst>
          </p:cNvPr>
          <p:cNvSpPr>
            <a:spLocks noGrp="1"/>
          </p:cNvSpPr>
          <p:nvPr>
            <p:ph idx="1"/>
          </p:nvPr>
        </p:nvSpPr>
        <p:spPr>
          <a:xfrm>
            <a:off x="1154954" y="2603500"/>
            <a:ext cx="9817846" cy="3416300"/>
          </a:xfrm>
        </p:spPr>
        <p:txBody>
          <a:bodyPr>
            <a:noAutofit/>
          </a:bodyPr>
          <a:lstStyle/>
          <a:p>
            <a:r>
              <a:rPr lang="en-IN" sz="3200" dirty="0">
                <a:latin typeface="Times New Roman" panose="02020603050405020304" pitchFamily="18" charset="0"/>
                <a:cs typeface="Times New Roman" panose="02020603050405020304" pitchFamily="18" charset="0"/>
              </a:rPr>
              <a:t>Credit card fraud is an illegal transaction performed without the card owner’s permission.
Fraud activities are increasing with online payments.
Manual fraud detection is inefficient for large data.
Data Science provides automated and accurate solutions.</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86779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3D632-407E-CB57-8036-6AAD662FB5B3}"/>
              </a:ext>
            </a:extLst>
          </p:cNvPr>
          <p:cNvSpPr>
            <a:spLocks noGrp="1"/>
          </p:cNvSpPr>
          <p:nvPr>
            <p:ph type="title"/>
          </p:nvPr>
        </p:nvSpPr>
        <p:spPr/>
        <p:txBody>
          <a:bodyPr/>
          <a:lstStyle/>
          <a:p>
            <a:r>
              <a:rPr lang="en-IN" dirty="0"/>
              <a:t>PROBLEM STATEMENT</a:t>
            </a:r>
            <a:endParaRPr lang="en-US" dirty="0"/>
          </a:p>
        </p:txBody>
      </p:sp>
      <p:sp>
        <p:nvSpPr>
          <p:cNvPr id="3" name="Content Placeholder 2">
            <a:extLst>
              <a:ext uri="{FF2B5EF4-FFF2-40B4-BE49-F238E27FC236}">
                <a16:creationId xmlns:a16="http://schemas.microsoft.com/office/drawing/2014/main" id="{3919F8A4-9903-7B03-10DE-79E25CF8C21E}"/>
              </a:ext>
            </a:extLst>
          </p:cNvPr>
          <p:cNvSpPr>
            <a:spLocks noGrp="1"/>
          </p:cNvSpPr>
          <p:nvPr>
            <p:ph idx="1"/>
          </p:nvPr>
        </p:nvSpPr>
        <p:spPr>
          <a:xfrm>
            <a:off x="868083" y="2962089"/>
            <a:ext cx="9979211" cy="3416300"/>
          </a:xfrm>
        </p:spPr>
        <p:txBody>
          <a:bodyPr>
            <a:normAutofit/>
          </a:bodyPr>
          <a:lstStyle/>
          <a:p>
            <a:r>
              <a:rPr lang="en-IN" sz="3200" dirty="0">
                <a:latin typeface="Times New Roman" panose="02020603050405020304" pitchFamily="18" charset="0"/>
                <a:cs typeface="Times New Roman" panose="02020603050405020304" pitchFamily="18" charset="0"/>
              </a:rPr>
              <a:t>Millions of transactions happen every day.
Fraud transactions form a very small percentage.
Class imbalance makes detection difficult.
Need a reliable and accurate fraud detection system.</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29395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019E3-12A3-0CDF-BA29-38FCD022C43A}"/>
              </a:ext>
            </a:extLst>
          </p:cNvPr>
          <p:cNvSpPr>
            <a:spLocks noGrp="1"/>
          </p:cNvSpPr>
          <p:nvPr>
            <p:ph type="title"/>
          </p:nvPr>
        </p:nvSpPr>
        <p:spPr/>
        <p:txBody>
          <a:bodyPr/>
          <a:lstStyle/>
          <a:p>
            <a:r>
              <a:rPr lang="en-IN" dirty="0"/>
              <a:t>OBJECTIVES</a:t>
            </a:r>
            <a:endParaRPr lang="en-US" dirty="0"/>
          </a:p>
        </p:txBody>
      </p:sp>
      <p:sp>
        <p:nvSpPr>
          <p:cNvPr id="3" name="Content Placeholder 2">
            <a:extLst>
              <a:ext uri="{FF2B5EF4-FFF2-40B4-BE49-F238E27FC236}">
                <a16:creationId xmlns:a16="http://schemas.microsoft.com/office/drawing/2014/main" id="{129EBB52-06E9-9B27-ED23-E9F11A623AEF}"/>
              </a:ext>
            </a:extLst>
          </p:cNvPr>
          <p:cNvSpPr>
            <a:spLocks noGrp="1"/>
          </p:cNvSpPr>
          <p:nvPr>
            <p:ph idx="1"/>
          </p:nvPr>
        </p:nvSpPr>
        <p:spPr/>
        <p:txBody>
          <a:bodyPr>
            <a:normAutofit/>
          </a:bodyPr>
          <a:lstStyle/>
          <a:p>
            <a:r>
              <a:rPr lang="en-IN" sz="3200" dirty="0">
                <a:latin typeface="Times New Roman" panose="02020603050405020304" pitchFamily="18" charset="0"/>
                <a:cs typeface="Times New Roman" panose="02020603050405020304" pitchFamily="18" charset="0"/>
              </a:rPr>
              <a:t>Detect fraudulent credit card transactions.
Apply machine learning algorithms.
Improve fraud detection accuracy.
Reduce false fraud alerts.
Increase customer trust and security.</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4929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72E65-381B-EB99-87DE-94C1F0DA9295}"/>
              </a:ext>
            </a:extLst>
          </p:cNvPr>
          <p:cNvSpPr>
            <a:spLocks noGrp="1"/>
          </p:cNvSpPr>
          <p:nvPr>
            <p:ph type="title"/>
          </p:nvPr>
        </p:nvSpPr>
        <p:spPr/>
        <p:txBody>
          <a:bodyPr/>
          <a:lstStyle/>
          <a:p>
            <a:r>
              <a:rPr lang="en-IN" dirty="0"/>
              <a:t>DATASET DESCRIPTION</a:t>
            </a:r>
            <a:endParaRPr lang="en-US" dirty="0"/>
          </a:p>
        </p:txBody>
      </p:sp>
      <p:sp>
        <p:nvSpPr>
          <p:cNvPr id="3" name="Content Placeholder 2">
            <a:extLst>
              <a:ext uri="{FF2B5EF4-FFF2-40B4-BE49-F238E27FC236}">
                <a16:creationId xmlns:a16="http://schemas.microsoft.com/office/drawing/2014/main" id="{0CD6C526-D9F5-106B-E03B-52E1150476AC}"/>
              </a:ext>
            </a:extLst>
          </p:cNvPr>
          <p:cNvSpPr>
            <a:spLocks noGrp="1"/>
          </p:cNvSpPr>
          <p:nvPr>
            <p:ph idx="1"/>
          </p:nvPr>
        </p:nvSpPr>
        <p:spPr>
          <a:xfrm>
            <a:off x="860613" y="2836583"/>
            <a:ext cx="9932894" cy="3416300"/>
          </a:xfrm>
        </p:spPr>
        <p:txBody>
          <a:bodyPr>
            <a:normAutofit/>
          </a:bodyPr>
          <a:lstStyle/>
          <a:p>
            <a:r>
              <a:rPr lang="en-IN" sz="3200" dirty="0">
                <a:latin typeface="Times New Roman" panose="02020603050405020304" pitchFamily="18" charset="0"/>
                <a:cs typeface="Times New Roman" panose="02020603050405020304" pitchFamily="18" charset="0"/>
              </a:rPr>
              <a:t>Dataset used: </a:t>
            </a:r>
            <a:r>
              <a:rPr lang="en-IN" sz="3200" dirty="0" err="1">
                <a:latin typeface="Times New Roman" panose="02020603050405020304" pitchFamily="18" charset="0"/>
                <a:cs typeface="Times New Roman" panose="02020603050405020304" pitchFamily="18" charset="0"/>
              </a:rPr>
              <a:t>creditcard.csv</a:t>
            </a:r>
            <a:r>
              <a:rPr lang="en-IN" sz="3200" dirty="0">
                <a:latin typeface="Times New Roman" panose="02020603050405020304" pitchFamily="18" charset="0"/>
                <a:cs typeface="Times New Roman" panose="02020603050405020304" pitchFamily="18" charset="0"/>
              </a:rPr>
              <a:t>
Real-world transaction dataset.
Features are anonymized for privacy.
Contains numerical transaction data.
Target column identifies fraud or normal transaction</a:t>
            </a:r>
            <a:r>
              <a:rPr lang="en-IN" dirty="0"/>
              <a:t>.</a:t>
            </a:r>
            <a:endParaRPr lang="en-US" dirty="0"/>
          </a:p>
        </p:txBody>
      </p:sp>
    </p:spTree>
    <p:extLst>
      <p:ext uri="{BB962C8B-B14F-4D97-AF65-F5344CB8AC3E}">
        <p14:creationId xmlns:p14="http://schemas.microsoft.com/office/powerpoint/2010/main" val="30794674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00460-D200-4BBF-F332-51AD5E455EA3}"/>
              </a:ext>
            </a:extLst>
          </p:cNvPr>
          <p:cNvSpPr>
            <a:spLocks noGrp="1"/>
          </p:cNvSpPr>
          <p:nvPr>
            <p:ph type="title"/>
          </p:nvPr>
        </p:nvSpPr>
        <p:spPr/>
        <p:txBody>
          <a:bodyPr/>
          <a:lstStyle/>
          <a:p>
            <a:r>
              <a:rPr lang="en-IN" dirty="0"/>
              <a:t>DATA PREPROCESSING</a:t>
            </a:r>
            <a:endParaRPr lang="en-US" dirty="0"/>
          </a:p>
        </p:txBody>
      </p:sp>
      <p:sp>
        <p:nvSpPr>
          <p:cNvPr id="3" name="Content Placeholder 2">
            <a:extLst>
              <a:ext uri="{FF2B5EF4-FFF2-40B4-BE49-F238E27FC236}">
                <a16:creationId xmlns:a16="http://schemas.microsoft.com/office/drawing/2014/main" id="{2DE86ADF-2B27-CB15-1F5B-0A6B52EF6341}"/>
              </a:ext>
            </a:extLst>
          </p:cNvPr>
          <p:cNvSpPr>
            <a:spLocks noGrp="1"/>
          </p:cNvSpPr>
          <p:nvPr>
            <p:ph idx="1"/>
          </p:nvPr>
        </p:nvSpPr>
        <p:spPr>
          <a:xfrm>
            <a:off x="1154954" y="2603500"/>
            <a:ext cx="9319317" cy="3416300"/>
          </a:xfrm>
        </p:spPr>
        <p:txBody>
          <a:bodyPr>
            <a:noAutofit/>
          </a:bodyPr>
          <a:lstStyle/>
          <a:p>
            <a:r>
              <a:rPr lang="en-IN" sz="3200" dirty="0">
                <a:latin typeface="Times New Roman" panose="02020603050405020304" pitchFamily="18" charset="0"/>
                <a:cs typeface="Times New Roman" panose="02020603050405020304" pitchFamily="18" charset="0"/>
              </a:rPr>
              <a:t>Checking and removing missing values.
Feature scaling for Amount column.
Handling imbalanced data using sampling techniques.
Splitting data into training and testing sets.
Data cleaning to improve model performance.</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8951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5424F-77C8-A2B7-76C0-B8DF6AA455AF}"/>
              </a:ext>
            </a:extLst>
          </p:cNvPr>
          <p:cNvSpPr>
            <a:spLocks noGrp="1"/>
          </p:cNvSpPr>
          <p:nvPr>
            <p:ph type="title"/>
          </p:nvPr>
        </p:nvSpPr>
        <p:spPr/>
        <p:txBody>
          <a:bodyPr/>
          <a:lstStyle/>
          <a:p>
            <a:r>
              <a:rPr lang="en-IN" dirty="0"/>
              <a:t>ALGORITHMS USED</a:t>
            </a:r>
            <a:endParaRPr lang="en-US" dirty="0"/>
          </a:p>
        </p:txBody>
      </p:sp>
      <p:sp>
        <p:nvSpPr>
          <p:cNvPr id="3" name="Content Placeholder 2">
            <a:extLst>
              <a:ext uri="{FF2B5EF4-FFF2-40B4-BE49-F238E27FC236}">
                <a16:creationId xmlns:a16="http://schemas.microsoft.com/office/drawing/2014/main" id="{50CB6A51-7690-109B-4227-CF2668B29B77}"/>
              </a:ext>
            </a:extLst>
          </p:cNvPr>
          <p:cNvSpPr>
            <a:spLocks noGrp="1"/>
          </p:cNvSpPr>
          <p:nvPr>
            <p:ph idx="1"/>
          </p:nvPr>
        </p:nvSpPr>
        <p:spPr/>
        <p:txBody>
          <a:bodyPr>
            <a:normAutofit/>
          </a:bodyPr>
          <a:lstStyle/>
          <a:p>
            <a:r>
              <a:rPr lang="en-IN" sz="3200" dirty="0">
                <a:latin typeface="Times New Roman" panose="02020603050405020304" pitchFamily="18" charset="0"/>
                <a:cs typeface="Times New Roman" panose="02020603050405020304" pitchFamily="18" charset="0"/>
              </a:rPr>
              <a:t>Logistic Regression for binary classification.
Decision Tree for rule-based detection.
Random Forest for higher accuracy.
Support Vector Machine for complex patterns.
Comparison of multiple models.</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3381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B6A56-90C3-E5C0-4473-9F678366F584}"/>
              </a:ext>
            </a:extLst>
          </p:cNvPr>
          <p:cNvSpPr>
            <a:spLocks noGrp="1"/>
          </p:cNvSpPr>
          <p:nvPr>
            <p:ph type="title"/>
          </p:nvPr>
        </p:nvSpPr>
        <p:spPr/>
        <p:txBody>
          <a:bodyPr/>
          <a:lstStyle/>
          <a:p>
            <a:r>
              <a:rPr lang="en-IN" dirty="0"/>
              <a:t>MODEL EVALUATION</a:t>
            </a:r>
            <a:endParaRPr lang="en-US" dirty="0"/>
          </a:p>
        </p:txBody>
      </p:sp>
      <p:sp>
        <p:nvSpPr>
          <p:cNvPr id="3" name="Content Placeholder 2">
            <a:extLst>
              <a:ext uri="{FF2B5EF4-FFF2-40B4-BE49-F238E27FC236}">
                <a16:creationId xmlns:a16="http://schemas.microsoft.com/office/drawing/2014/main" id="{2B4141E2-F6A6-9474-2EB4-545C28F3CE57}"/>
              </a:ext>
            </a:extLst>
          </p:cNvPr>
          <p:cNvSpPr>
            <a:spLocks noGrp="1"/>
          </p:cNvSpPr>
          <p:nvPr>
            <p:ph idx="1"/>
          </p:nvPr>
        </p:nvSpPr>
        <p:spPr/>
        <p:txBody>
          <a:bodyPr>
            <a:normAutofit/>
          </a:bodyPr>
          <a:lstStyle/>
          <a:p>
            <a:r>
              <a:rPr lang="en-IN" sz="3200" dirty="0">
                <a:latin typeface="Times New Roman" panose="02020603050405020304" pitchFamily="18" charset="0"/>
                <a:cs typeface="Times New Roman" panose="02020603050405020304" pitchFamily="18" charset="0"/>
              </a:rPr>
              <a:t>Accuracy to measure overall performance.
Precision to reduce false fraud alerts.
Recall to detect maximum fraud cases.
F1-Score for balanced evaluation.
Confusion Matrix for result analysis.</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85230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E44E9-DD61-D6A3-F796-BF626171E67E}"/>
              </a:ext>
            </a:extLst>
          </p:cNvPr>
          <p:cNvSpPr>
            <a:spLocks noGrp="1"/>
          </p:cNvSpPr>
          <p:nvPr>
            <p:ph type="title"/>
          </p:nvPr>
        </p:nvSpPr>
        <p:spPr/>
        <p:txBody>
          <a:bodyPr/>
          <a:lstStyle/>
          <a:p>
            <a:r>
              <a:rPr lang="en-IN" dirty="0"/>
              <a:t>RESULTS</a:t>
            </a:r>
            <a:endParaRPr lang="en-US" dirty="0"/>
          </a:p>
        </p:txBody>
      </p:sp>
      <p:sp>
        <p:nvSpPr>
          <p:cNvPr id="3" name="Content Placeholder 2">
            <a:extLst>
              <a:ext uri="{FF2B5EF4-FFF2-40B4-BE49-F238E27FC236}">
                <a16:creationId xmlns:a16="http://schemas.microsoft.com/office/drawing/2014/main" id="{7041939C-444C-0CF1-79FA-7F8C41C15D2E}"/>
              </a:ext>
            </a:extLst>
          </p:cNvPr>
          <p:cNvSpPr>
            <a:spLocks noGrp="1"/>
          </p:cNvSpPr>
          <p:nvPr>
            <p:ph idx="1"/>
          </p:nvPr>
        </p:nvSpPr>
        <p:spPr/>
        <p:txBody>
          <a:bodyPr>
            <a:normAutofit/>
          </a:bodyPr>
          <a:lstStyle/>
          <a:p>
            <a:r>
              <a:rPr lang="en-IN" sz="3200" dirty="0">
                <a:latin typeface="Times New Roman" panose="02020603050405020304" pitchFamily="18" charset="0"/>
                <a:cs typeface="Times New Roman" panose="02020603050405020304" pitchFamily="18" charset="0"/>
              </a:rPr>
              <a:t>Models successfully identify fraud transactions.
Random Forest shows better accuracy.
High recall ensures fraud is not missed.
Reduced false positive rate.
Improved detection efficiency.</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24309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A2307-FEB8-0ADB-3271-45CF31BCFF62}"/>
              </a:ext>
            </a:extLst>
          </p:cNvPr>
          <p:cNvSpPr>
            <a:spLocks noGrp="1"/>
          </p:cNvSpPr>
          <p:nvPr>
            <p:ph type="title"/>
          </p:nvPr>
        </p:nvSpPr>
        <p:spPr/>
        <p:txBody>
          <a:bodyPr/>
          <a:lstStyle/>
          <a:p>
            <a:r>
              <a:rPr lang="en-IN" dirty="0"/>
              <a:t>ADVANTAGES</a:t>
            </a:r>
            <a:endParaRPr lang="en-US" dirty="0"/>
          </a:p>
        </p:txBody>
      </p:sp>
      <p:sp>
        <p:nvSpPr>
          <p:cNvPr id="3" name="Content Placeholder 2">
            <a:extLst>
              <a:ext uri="{FF2B5EF4-FFF2-40B4-BE49-F238E27FC236}">
                <a16:creationId xmlns:a16="http://schemas.microsoft.com/office/drawing/2014/main" id="{A1FB6BC0-D3A1-5DC9-84F2-87DC12FD610A}"/>
              </a:ext>
            </a:extLst>
          </p:cNvPr>
          <p:cNvSpPr>
            <a:spLocks noGrp="1"/>
          </p:cNvSpPr>
          <p:nvPr>
            <p:ph idx="1"/>
          </p:nvPr>
        </p:nvSpPr>
        <p:spPr/>
        <p:txBody>
          <a:bodyPr>
            <a:normAutofit/>
          </a:bodyPr>
          <a:lstStyle/>
          <a:p>
            <a:r>
              <a:rPr lang="en-IN" sz="3200" dirty="0"/>
              <a:t>Fast and automated fraud detection.
Reduces financial loss.
Scalable for large transaction data.
Improves customer confidence.
Can be integrated with banking systems.</a:t>
            </a:r>
            <a:endParaRPr lang="en-US" sz="3200" dirty="0"/>
          </a:p>
        </p:txBody>
      </p:sp>
    </p:spTree>
    <p:extLst>
      <p:ext uri="{BB962C8B-B14F-4D97-AF65-F5344CB8AC3E}">
        <p14:creationId xmlns:p14="http://schemas.microsoft.com/office/powerpoint/2010/main" val="31450929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A41A9-5704-0308-673A-712BD242E298}"/>
              </a:ext>
            </a:extLst>
          </p:cNvPr>
          <p:cNvSpPr>
            <a:spLocks noGrp="1"/>
          </p:cNvSpPr>
          <p:nvPr>
            <p:ph type="title"/>
          </p:nvPr>
        </p:nvSpPr>
        <p:spPr/>
        <p:txBody>
          <a:bodyPr/>
          <a:lstStyle/>
          <a:p>
            <a:r>
              <a:rPr lang="en-IN" dirty="0"/>
              <a:t>APPLICATIONS</a:t>
            </a:r>
            <a:endParaRPr lang="en-US" dirty="0"/>
          </a:p>
        </p:txBody>
      </p:sp>
      <p:sp>
        <p:nvSpPr>
          <p:cNvPr id="3" name="Content Placeholder 2">
            <a:extLst>
              <a:ext uri="{FF2B5EF4-FFF2-40B4-BE49-F238E27FC236}">
                <a16:creationId xmlns:a16="http://schemas.microsoft.com/office/drawing/2014/main" id="{471D32DE-F97F-BDC7-6A8E-EE6E79A7D6D6}"/>
              </a:ext>
            </a:extLst>
          </p:cNvPr>
          <p:cNvSpPr>
            <a:spLocks noGrp="1"/>
          </p:cNvSpPr>
          <p:nvPr>
            <p:ph idx="1"/>
          </p:nvPr>
        </p:nvSpPr>
        <p:spPr/>
        <p:txBody>
          <a:bodyPr>
            <a:normAutofit/>
          </a:bodyPr>
          <a:lstStyle/>
          <a:p>
            <a:r>
              <a:rPr lang="en-IN" sz="3200" dirty="0">
                <a:latin typeface="Times New Roman" panose="02020603050405020304" pitchFamily="18" charset="0"/>
                <a:cs typeface="Times New Roman" panose="02020603050405020304" pitchFamily="18" charset="0"/>
              </a:rPr>
              <a:t>Banking and financial institutions.
Online payment gateways.
Credit card companies.
E-commerce platforms.
Digital wallets and UPI systems.</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77394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9F6F4-3453-E079-B103-4A32C5F21BD9}"/>
              </a:ext>
            </a:extLst>
          </p:cNvPr>
          <p:cNvSpPr>
            <a:spLocks noGrp="1"/>
          </p:cNvSpPr>
          <p:nvPr>
            <p:ph type="title"/>
          </p:nvPr>
        </p:nvSpPr>
        <p:spPr/>
        <p:txBody>
          <a:bodyPr/>
          <a:lstStyle/>
          <a:p>
            <a:r>
              <a:rPr lang="en-IN" dirty="0"/>
              <a:t>FUTURE SCOPE</a:t>
            </a:r>
            <a:endParaRPr lang="en-US" dirty="0"/>
          </a:p>
        </p:txBody>
      </p:sp>
      <p:sp>
        <p:nvSpPr>
          <p:cNvPr id="3" name="Content Placeholder 2">
            <a:extLst>
              <a:ext uri="{FF2B5EF4-FFF2-40B4-BE49-F238E27FC236}">
                <a16:creationId xmlns:a16="http://schemas.microsoft.com/office/drawing/2014/main" id="{A4BC7BF2-99EC-2B87-96BB-BFB024B80F77}"/>
              </a:ext>
            </a:extLst>
          </p:cNvPr>
          <p:cNvSpPr>
            <a:spLocks noGrp="1"/>
          </p:cNvSpPr>
          <p:nvPr>
            <p:ph idx="1"/>
          </p:nvPr>
        </p:nvSpPr>
        <p:spPr/>
        <p:txBody>
          <a:bodyPr>
            <a:normAutofit/>
          </a:bodyPr>
          <a:lstStyle/>
          <a:p>
            <a:r>
              <a:rPr lang="en-IN" sz="3200" dirty="0">
                <a:latin typeface="Times New Roman" panose="02020603050405020304" pitchFamily="18" charset="0"/>
                <a:cs typeface="Times New Roman" panose="02020603050405020304" pitchFamily="18" charset="0"/>
              </a:rPr>
              <a:t>Use of deep learning models.
Real-time fraud detection system.
AI-based smart fraud monitoring.
Integration with live transaction systems.
Continuous model improvement.</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47385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FC915-BFDF-14C4-8078-CC082B1353C0}"/>
              </a:ext>
            </a:extLst>
          </p:cNvPr>
          <p:cNvSpPr>
            <a:spLocks noGrp="1"/>
          </p:cNvSpPr>
          <p:nvPr>
            <p:ph type="title"/>
          </p:nvPr>
        </p:nvSpPr>
        <p:spPr/>
        <p:txBody>
          <a:bodyPr/>
          <a:lstStyle/>
          <a:p>
            <a:r>
              <a:rPr lang="en-IN" dirty="0"/>
              <a:t>CONCLUSION</a:t>
            </a:r>
            <a:endParaRPr lang="en-US" dirty="0"/>
          </a:p>
        </p:txBody>
      </p:sp>
      <p:sp>
        <p:nvSpPr>
          <p:cNvPr id="3" name="Content Placeholder 2">
            <a:extLst>
              <a:ext uri="{FF2B5EF4-FFF2-40B4-BE49-F238E27FC236}">
                <a16:creationId xmlns:a16="http://schemas.microsoft.com/office/drawing/2014/main" id="{829C9943-4B97-3760-6D0A-AE5E3AD10704}"/>
              </a:ext>
            </a:extLst>
          </p:cNvPr>
          <p:cNvSpPr>
            <a:spLocks noGrp="1"/>
          </p:cNvSpPr>
          <p:nvPr>
            <p:ph idx="1"/>
          </p:nvPr>
        </p:nvSpPr>
        <p:spPr/>
        <p:txBody>
          <a:bodyPr>
            <a:normAutofit/>
          </a:bodyPr>
          <a:lstStyle/>
          <a:p>
            <a:r>
              <a:rPr lang="en-IN" sz="3200" dirty="0">
                <a:latin typeface="Times New Roman" panose="02020603050405020304" pitchFamily="18" charset="0"/>
                <a:cs typeface="Times New Roman" panose="02020603050405020304" pitchFamily="18" charset="0"/>
              </a:rPr>
              <a:t>Data Science is effective for fraud detection.
Machine learning improves accuracy and speed.
Automated systems reduce manual effort.
Project demonstrates real-world application of ML.</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188008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TF10001029" id="{ED3996BA-162B-43C7-B0E2-A5CA4E649741}" vid="{187088E4-27D7-4455-856F-4A44258D82E2}"/>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13</Slides>
  <Notes>0</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Ion Boardroom</vt:lpstr>
      <vt:lpstr>           Credit Card Fraud Detection Using Data Science</vt:lpstr>
      <vt:lpstr>INTRODUCTION</vt:lpstr>
      <vt:lpstr>PROBLEM STATEMENT</vt:lpstr>
      <vt:lpstr>OBJECTIVES</vt:lpstr>
      <vt:lpstr>DATASET DESCRIPTION</vt:lpstr>
      <vt:lpstr>DATA PREPROCESSING</vt:lpstr>
      <vt:lpstr>ALGORITHMS USED</vt:lpstr>
      <vt:lpstr>MODEL EVALUATION</vt:lpstr>
      <vt:lpstr>RESULTS</vt:lpstr>
      <vt:lpstr>ADVANTAGES</vt:lpstr>
      <vt:lpstr>APPLICATIONS</vt:lpstr>
      <vt:lpstr>FUTURE SCOPE</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shravanisakharkar2007@gmail.com</dc:creator>
  <cp:lastModifiedBy>shravanisakharkar2007@gmail.com</cp:lastModifiedBy>
  <cp:revision>4</cp:revision>
  <dcterms:created xsi:type="dcterms:W3CDTF">2026-01-31T16:39:13Z</dcterms:created>
  <dcterms:modified xsi:type="dcterms:W3CDTF">2026-02-01T03:39:59Z</dcterms:modified>
</cp:coreProperties>
</file>